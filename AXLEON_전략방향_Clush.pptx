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05840"/>
            <a:ext cx="64008" cy="3200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AXLEON 전략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어느 경기장에서, 어떤 무기로 싸울 것인가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31920"/>
            <a:ext cx="1005840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Clush 전략기획  ·  2026.06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핵심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지금 알아야 할 세 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3657600" cy="493776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8308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4203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전략이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7개 제품 동시 구축은 계획이지
전략이 아니다.
"어디서 어떻게 이길 것인가"
라는 질문에 답해야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627632"/>
            <a:ext cx="3657600" cy="493776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5" y="178308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5" y="254203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공백이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315468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GPU AIOps(이기종 엔터프라이즈)는
NVIDIA도 글로벌 스타트업도
아직 완전히 커버하지 못한
유일한 공백이다.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5" y="1627632"/>
            <a:ext cx="3657600" cy="493776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78308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54203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창문이 닫힌다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315468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NVIDIA NVSentinel이 이미 진입했다.
18~24개월 안에 한국 레퍼런스를
확보하지 않으면
차별화 해자가 사라진다.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현황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AXLEON은 지금 전략을 세우고 있는가?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5303520" cy="5120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현재 AXLEON 계획: 7개 제품 동시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Calibri"/>
              </a:rPr>
              <a:t>① PlatformOps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07208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Calibri"/>
              </a:rPr>
              <a:t>②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28415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Calibri"/>
              </a:rPr>
              <a:t>③ AIOps  ←  유일한 전략적 공백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9624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④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70831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⑤ DataOps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⑥ SecOps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13248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⑦ FinOps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81328"/>
            <a:ext cx="5760720" cy="5120640"/>
          </a:xfrm>
          <a:prstGeom prst="roundRect">
            <a:avLst/>
          </a:prstGeom>
          <a:solidFill>
            <a:srgbClr val="FEF2F2"/>
          </a:solidFill>
          <a:ln w="762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6420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Roger Martin — 계획(Plan) vs 전략(Strategy)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12848"/>
            <a:ext cx="5349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계획이란: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실행 목록 + 비용 통제 + 내가 통제 가능한 것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E2761"/>
                </a:solidFill>
                <a:latin typeface="Calibri"/>
              </a:rPr>
              <a:t>전략이란: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"어느 시장에서, 어떤 방식으로 이길 것인가"에 답하는 것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진단: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7개 제품 로드맵은 계획이다.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"어디서 어떻게 이길 것인가"를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단 하나도 답하지 않는다.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이 상태로 출발하면 어느 경기장에서도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이길 수 없다.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경쟁 지형도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누가, 어느 영역에 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328"/>
            <a:ext cx="219456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202996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제품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81328"/>
            <a:ext cx="2377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536192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주요 경쟁자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481328"/>
            <a:ext cx="2377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36192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강점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81328"/>
            <a:ext cx="219456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536192"/>
            <a:ext cx="202996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AXLEON 관련성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481328"/>
            <a:ext cx="13716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536192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568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MLOps
(실험·학습)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9568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20299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W&amp;B, MLflow
Databricks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9568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20299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SaaS 성숙도
대규모 사용자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9568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7" y="20299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직접 경쟁
진입 어려움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956816"/>
            <a:ext cx="137160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029968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EA580C"/>
                </a:solidFill>
                <a:latin typeface="Calibri"/>
              </a:rPr>
              <a:t>⚠ 제외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42616"/>
            <a:ext cx="219456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7157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GPU 오케스트레이션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642616"/>
            <a:ext cx="23774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27157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Run:ai (NVIDIA)
Slurm + K8S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642616"/>
            <a:ext cx="23774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27157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NVIDIA 번들
HPC 표준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642616"/>
            <a:ext cx="219456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7" y="27157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핵심 위협
K8S 전용 약점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642616"/>
            <a:ext cx="137160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715768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EA580C"/>
                </a:solidFill>
                <a:latin typeface="Calibri"/>
              </a:rPr>
              <a:t>⚠ 간접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284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4015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GPU 모니터링
(K8S 전용)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3284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1488" y="34015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NVSentinel
Grafana Labs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3284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34015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오픈소스 무료
NVIDIA 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3284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7" y="34015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K8S-only
비K8S 공백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3328416"/>
            <a:ext cx="137160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0928" y="3401568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EA580C"/>
                </a:solidFill>
                <a:latin typeface="Calibri"/>
              </a:rPr>
              <a:t>⚠ 부분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14216"/>
            <a:ext cx="2194560" cy="68580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0873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이기종 GPU AIOps
(K8S + 非K8S)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4014216"/>
            <a:ext cx="2377440" cy="68580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61488" y="40873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4014216"/>
            <a:ext cx="2377440" cy="68580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38928" y="40873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014216"/>
            <a:ext cx="2194560" cy="68580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40873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유일한 공백
실제 수요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4014216"/>
            <a:ext cx="1371600" cy="685800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0928" y="4087368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0D9488"/>
                </a:solidFill>
                <a:latin typeface="Calibri"/>
              </a:rPr>
              <a:t>★ 공백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000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7731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DevOps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1760" y="47000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61488" y="47731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GitHub Actions
GitLab CI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4700016"/>
            <a:ext cx="237744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38928" y="4773168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글로벌 표준
무료 티어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700016"/>
            <a:ext cx="219456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16367" y="4773168"/>
            <a:ext cx="1993391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진입 불필요
commodity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4700016"/>
            <a:ext cx="1371600" cy="685800"/>
          </a:xfrm>
          <a:prstGeom prst="rect">
            <a:avLst/>
          </a:prstGeom>
          <a:solidFill>
            <a:srgbClr val="FAFA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4773168"/>
            <a:ext cx="11704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✗ 제외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6510528"/>
            <a:ext cx="11183112" cy="274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6528816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이기종 GPU AIOps(K8S + 非K8S 통합)만이 유일한 실질적 공백이다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위협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NVIDIA NVSentinel: 위협의 크기와 구조적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5440680" cy="4846320"/>
          </a:xfrm>
          <a:prstGeom prst="roundRect">
            <a:avLst/>
          </a:prstGeom>
          <a:solidFill>
            <a:srgbClr val="FEF2F2"/>
          </a:solidFill>
          <a:ln w="762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⚠  NVSentinel 현황 — 진짜 위협이다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67712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2025년 NVIDIA가 직접 출시한 오픈소스 GPU 클러스터 자동화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기능: GPU 건강 모니터링 + 노드 자동 격리(cordon) + 재스케줄링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67328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현재: AWS/GCP/Azure/OCI, 1,100+ 노드, ~40,000 GPU 운영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17136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★  Node HA 자동화가 AXLEON AIOps 핵심 기능과 정확히 겹침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66944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★  Run:ai(NVIDIA 인수)에 통합될 가능성 70~80%  →  2~3년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81328"/>
            <a:ext cx="5577840" cy="4846320"/>
          </a:xfrm>
          <a:prstGeom prst="roundRect">
            <a:avLst/>
          </a:prstGeom>
          <a:solidFill>
            <a:srgbClr val="F0FDF4"/>
          </a:solidFill>
          <a:ln w="762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459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✓  구조적 한계 — NVIDIA가 메울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67712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K8S 전용 → 비K8S 지원 시 Run:ai 판매 논리 붕괴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017520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클라우드/하이퍼스케일러 지향 → 폐쇄망 온프렘 비우선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76732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NVIDIA GPU 한정 → AMD·국산 NPU 지원 동기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517136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한국어·규제 대응 불가 → 글로벌 표준 제품 구조적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5266944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이기종 환경 통합 경험 없음 → SI·레거시 수용 불가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492240"/>
            <a:ext cx="11274552" cy="29260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510528"/>
            <a:ext cx="11237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NVSentinel은 K8S 고객을 잠식한다. 그것은 AXLEON의 경기장이 아니다. 이기종 환경 통합이 해자다.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차별화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NVIDIA가 구조적으로 할 수 없는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5669280" cy="2423160"/>
          </a:xfrm>
          <a:prstGeom prst="roundRect">
            <a:avLst/>
          </a:prstGeom>
          <a:solidFill>
            <a:srgbClr val="F0FDF4"/>
          </a:solidFill>
          <a:ln w="762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731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82496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이기종 환경 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762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지속성 ★★★ 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32888"/>
            <a:ext cx="5321808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K8S + standalone + HPC + 베어메탈을 하나의 화면에서. NVIDIA는 K8S-only를 벗어나면 Run:ai 판매 논리가 무너진다. 이 한계는 구조적이라 단기간에 해소되지 않는다.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81328"/>
            <a:ext cx="5669280" cy="2423160"/>
          </a:xfrm>
          <a:prstGeom prst="roundRect">
            <a:avLst/>
          </a:prstGeom>
          <a:solidFill>
            <a:srgbClr val="F0FDF4"/>
          </a:solidFill>
          <a:ln w="762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45920"/>
            <a:ext cx="731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82496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DCGM + syslog = 깊은 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762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지속성 ★★★ 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532888"/>
            <a:ext cx="5321808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NVSentinel은 DCGM 메트릭만 본다. GPU 오류 + OS 이벤트 + 네트워크 로그를 동시에 교차분석하는 진단 깊이가 차원이 다르다. 아키텍처를 바꾸지 않으면 따라올 수 없다.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87368"/>
            <a:ext cx="5669280" cy="242316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51960"/>
            <a:ext cx="731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88536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Datadog / Splunk 대체 TCO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8231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지속성 ★★ 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5321808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고객이 직접 꺼낸 페인포인트(LG에너지솔루션 미팅). NVIDIA는 Datadog와 경쟁할 이유가 없다. "GPU 전용으로 더 싸게"는 경영진 설득력 있는 예산 논리다.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87368"/>
            <a:ext cx="5669280" cy="242316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251960"/>
            <a:ext cx="731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288536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한국 엔터프라이즈 레퍼런스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78231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지속성 ★★★ 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138928"/>
            <a:ext cx="5321808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42dot · 하이닉스 · LG에너지솔루션. 동급 브랜드를 한 나라에서 2년 안에 쌓을 수 있는 곳은 한국뿐이다. 이 레퍼런스가 일본 SI 파트너를 설득하는 유일한 근거다.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고객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LG에너지솔루션 실제 미팅이 증명한 수요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611880" cy="51206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고객 프로파일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LG에너지솔루션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GPU 500+ 보유 (전사 통합 추진)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958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K8S / standalone / HPC /
개인 워크스테이션 혼재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전사 GPU 통합 —
2년 내 전 법인 편입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82896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CADCFC"/>
                </a:solidFill>
                <a:latin typeface="Calibri"/>
              </a:rPr>
              <a:t>"저는 쓰고 싶다"
— 의사결정자 직접 발언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59552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9BB8FF"/>
                </a:solidFill>
                <a:latin typeface="Calibri"/>
              </a:rPr>
              <a:t>42dot 레퍼런스를 핵심 신뢰 요인으로 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81328"/>
            <a:ext cx="7452360" cy="5120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명시된 요구사항 (미팅에서 직접 발언)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31720"/>
            <a:ext cx="82296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340863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이기종 환경(K8S+비K8S) 통합 모니터링 — 반드시 한 화면에서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00400"/>
            <a:ext cx="82296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209544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알람 지연 1초 이내 — Prometheus 1분+ 구조 문제 해결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069079"/>
            <a:ext cx="82296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069079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078223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Node HA 자동화 — 장애 노드 자동 격리·교체 워크플로우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937759"/>
            <a:ext cx="822960" cy="3657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937759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강요청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946903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"안 된다 말고 방법을 달라" — 비K8S 환경 반드시 수용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806440"/>
            <a:ext cx="82296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8064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비용절감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815583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Datadog / Splunk 교체 → GPU 전용 플랫폼으로 비용 절감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시장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왜 한국이 최적 Beachhead인가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74552" cy="868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8191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1">
                <a:solidFill>
                  <a:srgbClr val="CADCFC"/>
                </a:solidFill>
                <a:latin typeface="Calibri"/>
              </a:rPr>
              <a:t>"한국은 작지 않다 — 밀도가 높다. 삼성·SK·LG·현대를 2년 안에 레퍼런스로 쌓을 수 있는 나라는 한국뿐이다."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87168"/>
            <a:ext cx="2834640" cy="416052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60604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27832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레퍼런스
밀도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248716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삼성·SK하이닉스·LG·현대·KT — 글로벌 Fortune-급 기업이 한 나라에 밀집. 실리콘밸리 스타트업이 동급 레퍼런스를 5년에 모을 것을 2년 안에 달성 가능.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487168"/>
            <a:ext cx="2834640" cy="416052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60604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227832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이기종 환경의
교과서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886200"/>
            <a:ext cx="248716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LG에너지솔루션이 정확히 이 문제를 보유. K8S / standalone / HPC / 워크스테이션 혼재. 한국 대기업의 레거시 복잡도 = 최고의 PoC 환경.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87168"/>
            <a:ext cx="2834640" cy="416052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60604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227832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NVIDIA의
사각지대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86200"/>
            <a:ext cx="248716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폐쇄망·한국어·국내 보안 규제. NVIDIA / Run:ai가 단기간에 진입할 수 없는 홈그라운드. 구조적 마찰이 전부 해자가 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487168"/>
            <a:ext cx="2834640" cy="4160520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60604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227832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글로벌 확장의
발판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886200"/>
            <a:ext cx="2487168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한국 레퍼런스가 일본 SI 파트너(Fujitsu, NEC, NTT DATA)를 설득하는 유일한 근거. 아시아 제조 대기업은 검증된 벤더를 신뢰한다.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글로벌 확장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한국에서 이긴 뒤, 어디로 가는가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2816352" cy="5166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487168"/>
            <a:ext cx="28163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7510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DBEAFF"/>
                </a:solidFill>
                <a:latin typeface="Calibri"/>
              </a:rPr>
              <a:t>지금 ~ 18개월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한국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26060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42dot 레퍼런스 활용
LG에너지솔루션 수주
하이닉스·삼성SDS 확장
이기종 환경 통합 완성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08192"/>
            <a:ext cx="2560320" cy="4114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1081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$5~10M ARR / 레퍼런스 5~10개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81328"/>
            <a:ext cx="2816352" cy="5166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487168"/>
            <a:ext cx="28163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7510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DBEAFF"/>
                </a:solidFill>
                <a:latin typeface="Calibri"/>
              </a:rPr>
              <a:t>18 ~ 36개월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06040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일본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00400"/>
            <a:ext cx="26060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Fujitsu / NEC / NTT DATA SI 파트너십
Toyota · Honda · Sony 타겟
재벌 해외 사이트 병행 확장
"Korean-proven" 포지셔닝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6108192"/>
            <a:ext cx="25603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61081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$20~50M ARR / 아시아 거점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81328"/>
            <a:ext cx="2816352" cy="5166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487168"/>
            <a:ext cx="28163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7510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DBEAFF"/>
                </a:solidFill>
                <a:latin typeface="Calibri"/>
              </a:rPr>
              <a:t>36 ~ 60개월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06040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동남아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26060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베트남·태국·말레이시아
한·일 제조사 현지 공장
신규 GPU 인프라 구축 타겟
공장 AI 품질검사 특화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6108192"/>
            <a:ext cx="25603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61081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재벌 사이트 연계 확장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481328"/>
            <a:ext cx="2816352" cy="5166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2487168"/>
            <a:ext cx="28163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197510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DBEAFF"/>
                </a:solidFill>
                <a:latin typeface="Calibri"/>
              </a:rPr>
              <a:t>60개월+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606040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유럽 → 미국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200400"/>
            <a:ext cx="26060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독일 자동차·화학 (Industry 4.0)
아시아 레퍼런스로 신뢰 구축
미국은 마지막 — NVIDIA 홈그라운드
비K8S 특화 세그먼트부터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6108192"/>
            <a:ext cx="256032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61081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글로벌 플레이어 / M&amp;A·IPO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실행 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지금 결정해야 할 세 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10607040" cy="141732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728" y="1737360"/>
            <a:ext cx="169164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즉시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결정 1  GPU AIOps를 유일한 선도 제품으로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8541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DevOps·SecOps·DataOps는 로드맵에서 제거 또는 파트너십으로 대체. MLOps·PlatformOps는 AIOps beachhead 이후 Next 단계로 명확히 분리한다.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27248"/>
            <a:ext cx="10607040" cy="141732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53728" y="3291840"/>
            <a:ext cx="169164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이번 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결정 2  18개월 내 한국 레퍼런스 5개 확보 OKR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989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LG에너지솔루션 수주를 1호 목표로. 하이닉스·삼성SDS·KT를 파이프라인에. 이 레퍼런스가 일본 SI 파트너를 설득하는 유일한 근거가 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81728"/>
            <a:ext cx="10607040" cy="1417320"/>
          </a:xfrm>
          <a:prstGeom prst="roundRect">
            <a:avLst/>
          </a:prstGeom>
          <a:solidFill>
            <a:srgbClr val="283478"/>
          </a:solidFill>
          <a:ln w="7620">
            <a:solidFill>
              <a:srgbClr val="4A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53728" y="4846320"/>
            <a:ext cx="169164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이번 분기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결정 3  이기종 환경 통합을 기술 로드맵 최우선으로 격상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437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NVSentinel(K8S 전용)과의 차별화는 비K8S 통합 완성도에 달려 있다. K8S 기능 추가보다 비K8S 안정화가 전략적으로 더 중요하다.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55080"/>
            <a:ext cx="1060704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1">
                <a:solidFill>
                  <a:srgbClr val="CADCFC"/>
                </a:solidFill>
                <a:latin typeface="Calibri"/>
              </a:rPr>
              <a:t>창문은 18~24개월이다. 지금 결정하지 않으면 NVIDIA가 경기장을 정의한다.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